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비영리조직 사업(창업)계획서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0" b="1">
                <a:solidFill>
                  <a:srgbClr val="FFFFFF"/>
                </a:solidFill>
              </a:defRPr>
            </a:pPr>
            <a:r>
              <a:t>Re:Spring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E2E8F0"/>
                </a:solidFill>
              </a:defRPr>
            </a:pPr>
            <a:r>
              <a:t>취약계층의 자립을 돕는 친환경 업사이클링 제조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94A3B8"/>
                </a:solidFill>
              </a:defRPr>
            </a:pPr>
            <a:r>
              <a:t>과목: 비영리조직 창업 및 운영</a:t>
            </a:r>
          </a:p>
          <a:p>
            <a:pPr algn="l">
              <a:defRPr sz="1400">
                <a:solidFill>
                  <a:srgbClr val="94A3B8"/>
                </a:solidFill>
              </a:defRPr>
            </a:pPr>
            <a:r>
              <a:t>제출자: 사회복지학과 202531606 민소은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① 회사소개: 기관의 비전, 목적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"환경과 복지의 교차점에서 지속 가능한 일자리를 창출한다"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468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설립 목적</a:t>
            </a:r>
          </a:p>
          <a:p/>
          <a:p>
            <a:pPr>
              <a:defRPr sz="1300"/>
            </a:pPr>
            <a:r>
              <a:t>단순 현금 지원이 아닌 '제조업 일자리'를 통해 취약계층의 경제적/정서적 완전 자립 실현.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560320"/>
            <a:ext cx="2468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기관 비전 (2030)</a:t>
            </a:r>
          </a:p>
          <a:p/>
          <a:p>
            <a:pPr>
              <a:defRPr sz="1300"/>
            </a:pPr>
            <a:r>
              <a:t>지역사회 1호 '장애인 표준사업장 인증' 친환경 제조 전문 기업 도약.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2468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핵심 가치</a:t>
            </a:r>
          </a:p>
          <a:p/>
          <a:p>
            <a:pPr>
              <a:defRPr sz="1300"/>
            </a:pPr>
            <a:r>
              <a:t>치유(Healing)</a:t>
            </a:r>
            <a:br/>
            <a:r>
              <a:t>전문(Pro)</a:t>
            </a:r>
            <a:br/>
            <a:r>
              <a:t>순환(Eco)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② 사업소개: 창업배경 및 창업동기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창업 배경 (문제인식)</a:t>
            </a:r>
          </a:p>
          <a:p/>
          <a:p>
            <a:pPr>
              <a:defRPr sz="1300"/>
            </a:pPr>
            <a:r>
              <a:t>• 복지 사각지대: 관내 발달장애인/노인 취업률 20% 미만. 기존 단순 임가공 일자리는 '지속 가능한 급여' 지급 불가.</a:t>
            </a:r>
          </a:p>
          <a:p>
            <a:pPr>
              <a:defRPr sz="1300"/>
            </a:pPr>
            <a:r>
              <a:t>• 환경 위기: 플라스틱 소각 비용 급증 및 기업 ESG 실적 압박 심화.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창업 동기</a:t>
            </a:r>
          </a:p>
          <a:p/>
          <a:p>
            <a:pPr>
              <a:defRPr sz="1500" b="1"/>
            </a:pPr>
            <a:r>
              <a:t>"45세 사회복지 전문가로서 현장의 한계를 절감했습니다."</a:t>
            </a:r>
          </a:p>
          <a:p/>
          <a:p>
            <a:pPr>
              <a:defRPr sz="1300"/>
            </a:pPr>
            <a:r>
              <a:t>후원금에 의존하는 복지는 지속 가능하지 않습니다. '제품 경쟁력'으로 당당하게 월급을 주는 기업을 만들기 위해 창업을 결심했습니다.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② 비즈니스 모델 (온/오프라인, 글로벌)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안정적인 수익 구조 확보를 위한 다각화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1. 오프라인 (B2G/B2B)</a:t>
            </a:r>
          </a:p>
          <a:p/>
          <a:p>
            <a:pPr>
              <a:defRPr sz="1200"/>
            </a:pPr>
            <a:r>
              <a:t>대상: 관공서, 보건소, 대기업 ESG팀</a:t>
            </a:r>
          </a:p>
          <a:p>
            <a:pPr>
              <a:defRPr sz="1200"/>
            </a:pPr>
            <a:r>
              <a:t>• '중증장애인생산품 우선구매' 활용 수의계약</a:t>
            </a:r>
          </a:p>
          <a:p>
            <a:pPr>
              <a:defRPr sz="1200"/>
            </a:pPr>
            <a:r>
              <a:t>• 기업 사내 캠페인 + 굿즈 납품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2. 온라인 (D2C)</a:t>
            </a:r>
          </a:p>
          <a:p/>
          <a:p>
            <a:pPr>
              <a:defRPr sz="1200"/>
            </a:pPr>
            <a:r>
              <a:t>대상: 가치소비 MZ세대</a:t>
            </a:r>
          </a:p>
          <a:p>
            <a:pPr>
              <a:defRPr sz="1200"/>
            </a:pPr>
            <a:r>
              <a:t>• 자사몰 및 스마트스토어 운영</a:t>
            </a:r>
          </a:p>
          <a:p>
            <a:pPr>
              <a:defRPr sz="1200"/>
            </a:pPr>
            <a:r>
              <a:t>• 와디즈/텀블벅 펀딩을 통한 신제품 런칭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3. 글로벌 사업 (Global)</a:t>
            </a:r>
          </a:p>
          <a:p/>
          <a:p>
            <a:pPr>
              <a:defRPr sz="1200"/>
            </a:pPr>
            <a:r>
              <a:t>대상: 베트남 등 동남아 시장</a:t>
            </a:r>
          </a:p>
          <a:p>
            <a:pPr>
              <a:defRPr sz="1200"/>
            </a:pPr>
            <a:r>
              <a:t>• 5년 차 해외 판로 개척</a:t>
            </a:r>
          </a:p>
          <a:p>
            <a:pPr>
              <a:defRPr sz="1200"/>
            </a:pPr>
            <a:r>
              <a:t>• 한국형 업사이클링 디자인(K-Eco) 수출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핵심 제품 소개 (Signature Products)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64592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1. 마블링 화분</a:t>
            </a:r>
          </a:p>
          <a:p>
            <a:pPr>
              <a:defRPr sz="1300"/>
            </a:pPr>
            <a:r>
              <a:t>폐플라스틱 고유의 패턴을 살린 세상에 하나뿐인 디자인.</a:t>
            </a:r>
            <a:br/>
            <a:r>
              <a:t>기업 로고 각인 서비스 제공.</a:t>
            </a:r>
          </a:p>
          <a:p>
            <a:pPr>
              <a:defRPr b="1">
                <a:solidFill>
                  <a:srgbClr val="10B981"/>
                </a:solidFill>
              </a:defRPr>
            </a:pPr>
            <a:r>
              <a:t>예상가: 12,000원</a:t>
            </a:r>
          </a:p>
          <a:p/>
          <a:p>
            <a:pPr>
              <a:defRPr sz="1500" b="1"/>
            </a:pPr>
            <a:r>
              <a:t>2. 아웃도어 카라비너</a:t>
            </a:r>
          </a:p>
          <a:p>
            <a:pPr>
              <a:defRPr sz="1300"/>
            </a:pPr>
            <a:r>
              <a:t>고강도 플라스틱(HDPE)을 활용한 캠핑/등산용 굿즈.</a:t>
            </a:r>
            <a:br/>
            <a:r>
              <a:t>내구성 테스트 완료.</a:t>
            </a:r>
          </a:p>
          <a:p>
            <a:pPr>
              <a:defRPr b="1">
                <a:solidFill>
                  <a:srgbClr val="3B82F6"/>
                </a:solidFill>
              </a:defRPr>
            </a:pPr>
            <a:r>
              <a:t>예상가: 3,500원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474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제품 차별성</a:t>
            </a:r>
          </a:p>
          <a:p/>
          <a:p>
            <a:pPr>
              <a:defRPr sz="1300"/>
            </a:pPr>
            <a:r>
              <a:t>자체 내구성 테스트 완료, 고품질 원료 사용으로 저가 제품 대비 우수한 품질.</a:t>
            </a:r>
          </a:p>
          <a:p/>
          <a:p>
            <a:pPr>
              <a:defRPr sz="1300" b="1"/>
            </a:pPr>
            <a:r>
              <a:t>제품 하단 'Made by 000(근로자 실명)' 각인 서비스.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④ 시장분석: SWOT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Strength (강점)</a:t>
            </a:r>
          </a:p>
          <a:p/>
          <a:p>
            <a:pPr>
              <a:defRPr sz="1200"/>
            </a:pPr>
            <a:r>
              <a:t>• 복지 전문가(대표) + 기술 전문가(공장장) 시너지</a:t>
            </a:r>
          </a:p>
          <a:p>
            <a:pPr>
              <a:defRPr sz="1200"/>
            </a:pPr>
            <a:r>
              <a:t>• 정부 인건비 지원 수혜 (가격 경쟁력 확보)</a:t>
            </a:r>
          </a:p>
          <a:p>
            <a:pPr>
              <a:defRPr sz="1200"/>
            </a:pPr>
            <a:r>
              <a:t>• 독창적인 금형 디자인 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Weakness (약점)</a:t>
            </a:r>
          </a:p>
          <a:p/>
          <a:p>
            <a:pPr>
              <a:defRPr sz="1200"/>
            </a:pPr>
            <a:r>
              <a:t>• 초기 브랜드 인지도 부족</a:t>
            </a:r>
          </a:p>
          <a:p>
            <a:pPr>
              <a:defRPr sz="1200"/>
            </a:pPr>
            <a:r>
              <a:t>• 전용 설비(사출기) 구축 초기 투자비용 부담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Opportunity (기회)</a:t>
            </a:r>
          </a:p>
          <a:p/>
          <a:p>
            <a:pPr>
              <a:defRPr sz="1200"/>
            </a:pPr>
            <a:r>
              <a:t>• 공공기관 우선구매 시장(20조원) 확대</a:t>
            </a:r>
          </a:p>
          <a:p>
            <a:pPr>
              <a:defRPr sz="1200"/>
            </a:pPr>
            <a:r>
              <a:t>• 기업 ESG 경영 강화로 친환경 굿즈 수요 폭증</a:t>
            </a:r>
          </a:p>
          <a:p>
            <a:pPr>
              <a:defRPr sz="1200"/>
            </a:pPr>
            <a:r>
              <a:t>• 가치소비 트렌드 확산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8404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Threat (위협)</a:t>
            </a:r>
          </a:p>
          <a:p/>
          <a:p>
            <a:pPr>
              <a:defRPr sz="1200"/>
            </a:pPr>
            <a:r>
              <a:t>• 저가 중국산 제품과의 가격 경쟁</a:t>
            </a:r>
          </a:p>
          <a:p>
            <a:pPr>
              <a:defRPr sz="1200"/>
            </a:pPr>
            <a:r>
              <a:t>• 유사 업사이클링 업체의 난립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④ 마케팅 전략 및 판로 제시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64592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홍보 전략</a:t>
            </a:r>
          </a:p>
          <a:p>
            <a:pPr>
              <a:defRPr sz="1400" b="1"/>
            </a:pPr>
            <a:r>
              <a:t>"제품이 아닌 가치를 팝니다"</a:t>
            </a:r>
          </a:p>
          <a:p/>
          <a:p>
            <a:pPr>
              <a:defRPr sz="1200"/>
            </a:pPr>
            <a:r>
              <a:t>• 스토리텔링: 제품 QR코드로 제작자(장애인)의 작업 영상 연결.</a:t>
            </a:r>
          </a:p>
          <a:p>
            <a:pPr>
              <a:defRPr sz="1200"/>
            </a:pPr>
            <a:r>
              <a:t>• 체험단 운영: 지역 맘카페 연계 '나만의 화분 만들기' 체험단.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단계별 판로 개척</a:t>
            </a:r>
          </a:p>
          <a:p/>
          <a:p>
            <a:pPr>
              <a:defRPr sz="1200"/>
            </a:pPr>
            <a:r>
              <a:t>1단계 (공공): 나라장터, 꿈드래 쇼핑몰 입점.</a:t>
            </a:r>
          </a:p>
          <a:p/>
          <a:p>
            <a:pPr>
              <a:defRPr sz="1200"/>
            </a:pPr>
            <a:r>
              <a:t>2단계 (온라인): 네이버 스마트스토어, 와디즈 펀딩.</a:t>
            </a:r>
          </a:p>
          <a:p/>
          <a:p>
            <a:pPr>
              <a:defRPr sz="1200"/>
            </a:pPr>
            <a:r>
              <a:t>3단계 (제휴): 제로웨이스트 샵 20개소 입점.</a:t>
            </a:r>
          </a:p>
          <a:p/>
          <a:p>
            <a:pPr>
              <a:defRPr sz="1200"/>
            </a:pPr>
            <a:r>
              <a:t>4단계 (수출): KOTRA 연계 해외 전시회 참가.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③ 사업계획: 인력구성 (HR)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대표 민소은 (본인)</a:t>
            </a:r>
          </a:p>
          <a:p/>
          <a:p>
            <a:pPr>
              <a:defRPr sz="1300" b="1"/>
            </a:pPr>
            <a:r>
              <a:t>사회복지 전문가 (1급)</a:t>
            </a:r>
          </a:p>
          <a:p/>
          <a:p>
            <a:pPr>
              <a:defRPr sz="1100"/>
            </a:pPr>
            <a:r>
              <a:t>인력 관리 및 직무 지도, 지자체/관공서 영업 총괄.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기술 이사 (CTO)</a:t>
            </a:r>
          </a:p>
          <a:p/>
          <a:p>
            <a:pPr>
              <a:defRPr sz="1300" b="1"/>
            </a:pPr>
            <a:r>
              <a:t>생산 총괄 (경력 20년)</a:t>
            </a:r>
          </a:p>
          <a:p/>
          <a:p>
            <a:pPr>
              <a:defRPr sz="1100"/>
            </a:pPr>
            <a:r>
              <a:t>사출 금형 설계, 공장장 출신, 생산 라인 및 품질 관리.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현장 근로자 (3명)</a:t>
            </a:r>
          </a:p>
          <a:p/>
          <a:p>
            <a:pPr>
              <a:defRPr sz="1300" b="1"/>
            </a:pPr>
            <a:r>
              <a:t>취약계층 우선 채용</a:t>
            </a:r>
          </a:p>
          <a:p/>
          <a:p>
            <a:pPr>
              <a:defRPr sz="1100"/>
            </a:pPr>
            <a:r>
              <a:t>경력단절여성 및 장애인, 지역 사회복지관 추천 채용.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③ 사업계획: 인력 운영 및 임금 (2025년 기준)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월 급여 (세전)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비고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대표 민소은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무급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초기 3년간 무급 (재투자)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관리직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기술이사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3,000,000원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경력직 대우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현장직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취약계층 근로자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2,096,270원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최저임금 준수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※ 임금 산출 근거: 2025년 최저시급 10,030원 × 209시간 (주휴수당 포함 월 소정근로시간)</a:t>
            </a:r>
          </a:p>
          <a:p>
            <a:pPr>
              <a:defRPr sz="1100"/>
            </a:pPr>
            <a:r>
              <a:t>※ 복리후생: 4대보험 가입(두루누리 활용), 식대 별도 제공, 심리상담(EAP) 프로그램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③ 사업계획: 정부 제도 활용 전략 (필수 기입)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1. 진입기</a:t>
            </a:r>
          </a:p>
          <a:p/>
          <a:p>
            <a:pPr>
              <a:defRPr sz="1400" b="1"/>
            </a:pPr>
            <a:r>
              <a:t>사회적기업가 육성사업</a:t>
            </a:r>
          </a:p>
          <a:p/>
          <a:p>
            <a:pPr>
              <a:defRPr sz="1100"/>
            </a:pPr>
            <a:r>
              <a:t>창업 초기 자금 3,000만원 확보하여 핵심 설비(사출기) 구입 비용으로 사용.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2. 성장기</a:t>
            </a:r>
          </a:p>
          <a:p/>
          <a:p>
            <a:pPr>
              <a:defRPr sz="1400" b="1"/>
            </a:pPr>
            <a:r>
              <a:t>일자리창출사업 (예비)</a:t>
            </a:r>
          </a:p>
          <a:p/>
          <a:p>
            <a:pPr>
              <a:defRPr sz="1100"/>
            </a:pPr>
            <a:r>
              <a:t>예비사회적기업 지정 후, 취약계층 신규 채용 인건비의 50~70%를 지원받아 고정비 절감.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3. 도약기</a:t>
            </a:r>
          </a:p>
          <a:p/>
          <a:p>
            <a:pPr>
              <a:defRPr sz="1400" b="1"/>
            </a:pPr>
            <a:r>
              <a:t>장애인 표준사업장 지원</a:t>
            </a:r>
          </a:p>
          <a:p/>
          <a:p>
            <a:pPr>
              <a:defRPr sz="1100"/>
            </a:pPr>
            <a:r>
              <a:t>한국장애인고용공단 시설 무상지원금을 활용하여 작업장 환경 개선.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초기 투자 및 생산 설비 계획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1828800"/>
            <a:ext cx="3200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총 소요 예산: 1억 원</a:t>
            </a:r>
          </a:p>
          <a:p/>
          <a:p>
            <a:pPr>
              <a:defRPr sz="1300"/>
            </a:pPr>
            <a:r>
              <a:t>• 시설자금 (6,000만원):</a:t>
            </a:r>
            <a:br/>
            <a:r>
              <a:t>  사출기, 분쇄기, 금형 제작비, 공장 보증금.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운전자금 (4,000만원):</a:t>
            </a:r>
            <a:br/>
            <a:r>
              <a:t>  초기 6개월 인건비, 재료비, 시제품 홍보비.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200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생산 설비 특징</a:t>
            </a:r>
          </a:p>
          <a:p/>
          <a:p>
            <a:pPr>
              <a:defRPr sz="1300"/>
            </a:pPr>
            <a:r>
              <a:t>• 소형 사출기:</a:t>
            </a:r>
            <a:br/>
            <a:r>
              <a:t>  다품종 소량 생산 용이, 장애인 접근성 고려.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저소음 분쇄기:</a:t>
            </a:r>
            <a:br/>
            <a:r>
              <a:t>  작업자 청력 보호를 위한 방음 박스 및 안전 센서 부착.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자금 조달 방안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전략: 상환 부담 없는 정부지원금 비율(50%) 확대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468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자기자본 (20%)</a:t>
            </a:r>
          </a:p>
          <a:p/>
          <a:p>
            <a:pPr>
              <a:defRPr sz="2000" b="1">
                <a:solidFill>
                  <a:srgbClr val="10B981"/>
                </a:solidFill>
              </a:defRPr>
            </a:pPr>
            <a:r>
              <a:t>2,000만 원</a:t>
            </a:r>
          </a:p>
          <a:p/>
          <a:p>
            <a:pPr>
              <a:defRPr sz="1200"/>
            </a:pPr>
            <a:r>
              <a:t>대표자 출자 (책임경영)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560320"/>
            <a:ext cx="2468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정부지원 (50%)</a:t>
            </a:r>
          </a:p>
          <a:p/>
          <a:p>
            <a:pPr>
              <a:defRPr sz="2000" b="1">
                <a:solidFill>
                  <a:srgbClr val="10B981"/>
                </a:solidFill>
              </a:defRPr>
            </a:pPr>
            <a:r>
              <a:t>5,000만 원</a:t>
            </a:r>
          </a:p>
          <a:p/>
          <a:p>
            <a:pPr>
              <a:defRPr sz="1200"/>
            </a:pPr>
            <a:r>
              <a:t>사회적기업 육성사업</a:t>
            </a:r>
            <a:br/>
            <a:r>
              <a:t>장애인공단 기기지원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2468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정책융자 (30%)</a:t>
            </a:r>
          </a:p>
          <a:p/>
          <a:p>
            <a:pPr>
              <a:defRPr sz="2000" b="1">
                <a:solidFill>
                  <a:srgbClr val="10B981"/>
                </a:solidFill>
              </a:defRPr>
            </a:pPr>
            <a:r>
              <a:t>3,000만 원</a:t>
            </a:r>
          </a:p>
          <a:p/>
          <a:p>
            <a:pPr>
              <a:defRPr sz="1200"/>
            </a:pPr>
            <a:r>
              <a:t>서민금융진흥원 (저리)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⑤ 향후 추진 계획 (5년 계획)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828800"/>
            <a:ext cx="1554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1년차 (진입)</a:t>
            </a:r>
          </a:p>
          <a:p/>
          <a:p>
            <a:pPr>
              <a:defRPr sz="1000"/>
            </a:pPr>
            <a:r>
              <a:t>• 법인 설립</a:t>
            </a:r>
          </a:p>
          <a:p>
            <a:pPr>
              <a:defRPr sz="1000"/>
            </a:pPr>
            <a:r>
              <a:t>• 예비사회적기업 지정</a:t>
            </a:r>
          </a:p>
          <a:p>
            <a:pPr>
              <a:defRPr sz="1000"/>
            </a:pPr>
            <a:r>
              <a:t>• 시제품 5종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828800"/>
            <a:ext cx="1554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2년차 (성장)</a:t>
            </a:r>
          </a:p>
          <a:p/>
          <a:p>
            <a:pPr>
              <a:defRPr sz="1000"/>
            </a:pPr>
            <a:r>
              <a:t>• 매출 3억 달성</a:t>
            </a:r>
          </a:p>
          <a:p>
            <a:pPr>
              <a:defRPr sz="1000"/>
            </a:pPr>
            <a:r>
              <a:t>• 장애인 표준사업장 신청 준비</a:t>
            </a:r>
          </a:p>
          <a:p>
            <a:pPr>
              <a:defRPr sz="1000"/>
            </a:pPr>
            <a:r>
              <a:t>• 고정 거래처 10곳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828800"/>
            <a:ext cx="1554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3년차 (도약)</a:t>
            </a:r>
          </a:p>
          <a:p/>
          <a:p>
            <a:pPr>
              <a:defRPr sz="1000"/>
            </a:pPr>
            <a:r>
              <a:t>• 사회적기업 본인증</a:t>
            </a:r>
          </a:p>
          <a:p>
            <a:pPr>
              <a:defRPr sz="1000"/>
            </a:pPr>
            <a:r>
              <a:t>• 장애인 표준사업장 인증 완료</a:t>
            </a:r>
          </a:p>
          <a:p>
            <a:pPr>
              <a:defRPr sz="1000"/>
            </a:pPr>
            <a:r>
              <a:t>• 공장 확장 이전</a:t>
            </a:r>
          </a:p>
          <a:p>
            <a:pPr>
              <a:defRPr sz="1000"/>
            </a:pPr>
            <a:r>
              <a:t>• 취약계층 10명 고용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9" y="1828800"/>
            <a:ext cx="1554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4년차 (확장)</a:t>
            </a:r>
          </a:p>
          <a:p/>
          <a:p>
            <a:pPr>
              <a:defRPr sz="1000"/>
            </a:pPr>
            <a:r>
              <a:t>• 신제품 라인업 확대</a:t>
            </a:r>
          </a:p>
          <a:p>
            <a:pPr>
              <a:defRPr sz="1000"/>
            </a:pPr>
            <a:r>
              <a:t>• 지역 협력 공장 네트워크 구축</a:t>
            </a:r>
          </a:p>
          <a:p>
            <a:pPr>
              <a:defRPr sz="1000"/>
            </a:pPr>
            <a:r>
              <a:t>• 전국 유통망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28800"/>
            <a:ext cx="1554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5년차 (Global)</a:t>
            </a:r>
          </a:p>
          <a:p/>
          <a:p>
            <a:pPr>
              <a:defRPr sz="1000"/>
            </a:pPr>
            <a:r>
              <a:t>• 해외 수출 시작(베트남)</a:t>
            </a:r>
          </a:p>
          <a:p>
            <a:pPr>
              <a:defRPr sz="1000"/>
            </a:pPr>
            <a:r>
              <a:t>• 연 매출 10억 달성</a:t>
            </a:r>
          </a:p>
          <a:p>
            <a:pPr>
              <a:defRPr sz="1000"/>
            </a:pPr>
            <a:r>
              <a:t>• K-Eco 브랜드화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추정 손익 계산서 (3개년)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01168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구분 (단위: 백만 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1년차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2년차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3년차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매출액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매출원가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판관비 (인건비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영업이익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△20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* 1차년도 적자는 정부지원금(영업외수익)으로 보전하여 현금 흐름 유지.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⑤ 향후 추진 계획: 손익분기점 (BEP)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22860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BEP 달성 예상 시점</a:t>
            </a:r>
          </a:p>
          <a:p/>
          <a:p>
            <a:pPr algn="ctr">
              <a:defRPr sz="6000" b="1">
                <a:solidFill>
                  <a:srgbClr val="10B981"/>
                </a:solidFill>
              </a:defRPr>
            </a:pPr>
            <a:r>
              <a:t>8개월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달성 조건 및 전략</a:t>
            </a:r>
          </a:p>
          <a:p/>
          <a:p>
            <a:pPr>
              <a:defRPr sz="1200"/>
            </a:pPr>
            <a:r>
              <a:t>• 달성 조건: 월 매출 1,400만 원</a:t>
            </a:r>
            <a:br/>
            <a:r>
              <a:t>  (BEP = 고정비 700만원 ÷ 공헌이익률 50%).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고정비 최소화: 월 700만 원</a:t>
            </a:r>
            <a:br/>
            <a:r>
              <a:t>  (인건비 지원 반영 후 자부담분).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공헌이익률: 50% (제조업 특성).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전략: B2B 대형 계약(월 500만 원 x 2건)</a:t>
            </a:r>
            <a:br/>
            <a:r>
              <a:t>  수주 시 조기 달성 가능.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사회적 가치 측정 (SROI)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 w="508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2011680"/>
            <a:ext cx="3200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정량적 성과 (Quantitative)</a:t>
            </a:r>
          </a:p>
          <a:p/>
          <a:p>
            <a:pPr>
              <a:defRPr sz="1300"/>
            </a:pPr>
            <a:r>
              <a:t>• 연간 폐플라스틱 25톤 재활용</a:t>
            </a:r>
            <a:br/>
            <a:r>
              <a:t>  (3년차 기준).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탄소 감축 효과</a:t>
            </a:r>
            <a:br/>
            <a:r>
              <a:t>  (소나무 1,200그루 식재 상당).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취약계층 10명 일자리 창출.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200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정성적 성과 (Qualitative)</a:t>
            </a:r>
          </a:p>
          <a:p/>
          <a:p>
            <a:pPr>
              <a:defRPr sz="1300"/>
            </a:pPr>
            <a:r>
              <a:t>• 근로자 우울감 척도 30% 개선.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경제적 자립을 통한 탈수급</a:t>
            </a:r>
            <a:br/>
            <a:r>
              <a:t>  (수급자 탈피).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지역사회 '환경 인식' 개선.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E2E8F0"/>
                </a:solidFill>
              </a:defRPr>
            </a:pPr>
            <a:r>
              <a:t>"Re:Spring은 단순한 공장이 아닙니다.</a:t>
            </a:r>
          </a:p>
          <a:p>
            <a:pPr algn="l">
              <a:defRPr sz="1800">
                <a:solidFill>
                  <a:srgbClr val="E2E8F0"/>
                </a:solidFill>
              </a:defRPr>
            </a:pPr>
            <a:r>
              <a:t>우리 지역사회의 가장 아픈 곳을 치유하는</a:t>
            </a:r>
          </a:p>
          <a:p>
            <a:pPr algn="l">
              <a:defRPr sz="1800">
                <a:solidFill>
                  <a:srgbClr val="E2E8F0"/>
                </a:solidFill>
              </a:defRPr>
            </a:pPr>
            <a:r>
              <a:t>'생산적 복지'의 거점입니다."</a:t>
            </a:r>
          </a:p>
          <a:p>
            <a:pPr algn="l">
              <a:defRPr sz="1800">
                <a:solidFill>
                  <a:srgbClr val="E2E8F0"/>
                </a:solidFill>
              </a:defRPr>
            </a:pPr>
          </a:p>
          <a:p>
            <a:pPr algn="l">
              <a:defRPr sz="1800">
                <a:solidFill>
                  <a:srgbClr val="E2E8F0"/>
                </a:solidFill>
              </a:defRPr>
            </a:pPr>
            <a:r>
              <a:t>준비된 대표, 검증된 기술, 확실한 수요처.</a:t>
            </a:r>
            <a:br/>
            <a:r>
              <a:t>이제 지원금이라는 마중물이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